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0152" cy="1645920"/>
          </a:xfrm>
          <a:prstGeom prst="rect">
            <a:avLst/>
          </a:prstGeom>
          <a:noFill/>
        </p:spPr>
        <p:txBody>
          <a:bodyPr wrap="square">
            <a:spAutoFit/>
          </a:bodyPr>
          <a:lstStyle/>
          <a:p>
            <a:pPr algn="ctr"/>
            <a:r>
              <a:rPr sz="4400" b="1">
                <a:solidFill>
                  <a:srgbClr val="FFFFFF"/>
                </a:solidFill>
              </a:rPr>
              <a:t>Climate Change: The Defining Issue of Our Time</a:t>
            </a:r>
          </a:p>
        </p:txBody>
      </p:sp>
      <p:sp>
        <p:nvSpPr>
          <p:cNvPr id="4" name="TextBox 3"/>
          <p:cNvSpPr txBox="1"/>
          <p:nvPr/>
        </p:nvSpPr>
        <p:spPr>
          <a:xfrm>
            <a:off x="1371600" y="3840480"/>
            <a:ext cx="9445752" cy="731520"/>
          </a:xfrm>
          <a:prstGeom prst="rect">
            <a:avLst/>
          </a:prstGeom>
          <a:noFill/>
        </p:spPr>
        <p:txBody>
          <a:bodyPr wrap="square">
            <a:spAutoFit/>
          </a:bodyPr>
          <a:lstStyle/>
          <a:p>
            <a:pPr algn="ctr"/>
            <a:r>
              <a:rPr sz="2000" b="0">
                <a:solidFill>
                  <a:srgbClr val="94A3B8"/>
                </a:solidFill>
              </a:rPr>
              <a:t>Understanding the Causes, Consequences, and Solutions</a:t>
            </a:r>
          </a:p>
        </p:txBody>
      </p:sp>
      <p:sp>
        <p:nvSpPr>
          <p:cNvPr id="5" name="TextBox 4"/>
          <p:cNvSpPr txBox="1"/>
          <p:nvPr/>
        </p:nvSpPr>
        <p:spPr>
          <a:xfrm>
            <a:off x="457200" y="6217920"/>
            <a:ext cx="11274552" cy="365760"/>
          </a:xfrm>
          <a:prstGeom prst="rect">
            <a:avLst/>
          </a:prstGeom>
          <a:noFill/>
        </p:spPr>
        <p:txBody>
          <a:bodyPr wrap="square">
            <a:spAutoFit/>
          </a:bodyPr>
          <a:lstStyle/>
          <a:p>
            <a:pPr algn="ctr"/>
            <a:r>
              <a:rPr sz="1000" b="0">
                <a:solidFill>
                  <a:srgbClr val="94A3B8"/>
                </a:solidFill>
              </a:rPr>
              <a:t>CLIMATE CHANGE</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1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Causes of Climate Change</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Greenhouse gas emissions from fossil fuel combustion</a:t>
            </a:r>
          </a:p>
          <a:p>
            <a:pPr>
              <a:spcBef>
                <a:spcPts val="800"/>
              </a:spcBef>
            </a:pPr>
            <a:r>
              <a:rPr sz="1800">
                <a:solidFill>
                  <a:srgbClr val="CBD5E1"/>
                </a:solidFill>
              </a:rPr>
              <a:t>  •  Deforestation and land-use changes</a:t>
            </a:r>
          </a:p>
          <a:p>
            <a:pPr>
              <a:spcBef>
                <a:spcPts val="800"/>
              </a:spcBef>
            </a:pPr>
            <a:r>
              <a:rPr sz="1800">
                <a:solidFill>
                  <a:srgbClr val="CBD5E1"/>
                </a:solidFill>
              </a:rPr>
              <a:t>  •  Agricultural practices and methane emissions</a:t>
            </a:r>
          </a:p>
          <a:p>
            <a:pPr>
              <a:spcBef>
                <a:spcPts val="800"/>
              </a:spcBef>
            </a:pPr>
            <a:r>
              <a:rPr sz="1800">
                <a:solidFill>
                  <a:srgbClr val="CBD5E1"/>
                </a:solidFill>
              </a:rPr>
              <a:t>  •  Industrial processes and fluorinated gas emissions</a:t>
            </a:r>
          </a:p>
          <a:p>
            <a:pPr>
              <a:spcBef>
                <a:spcPts val="800"/>
              </a:spcBef>
            </a:pPr>
            <a:r>
              <a:rPr sz="1800">
                <a:solidFill>
                  <a:srgbClr val="CBD5E1"/>
                </a:solidFill>
              </a:rPr>
              <a:t>  •  Population growth and consumption patterns</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Rising Global Temperatures</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lgn="l"/>
            <a:r>
              <a:rPr sz="1800" b="0">
                <a:solidFill>
                  <a:srgbClr val="CBD5E1"/>
                </a:solidFill>
              </a:rPr>
              <a:t>The average global temperature has risen by about 1.8 degrees Fahrenheit since the late 1800s, with the last decade being the warmest on record. This warming trend is projected to continue, with potentially catastrophic consequences for ecosystems, human health, and the economy.</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Consequences of Climate Change</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More frequent and severe heatwaves, droughts, and storms</a:t>
            </a:r>
          </a:p>
          <a:p>
            <a:pPr>
              <a:spcBef>
                <a:spcPts val="800"/>
              </a:spcBef>
            </a:pPr>
            <a:r>
              <a:rPr sz="1800">
                <a:solidFill>
                  <a:srgbClr val="CBD5E1"/>
                </a:solidFill>
              </a:rPr>
              <a:t>  •  Sea-level rise and coastal flooding</a:t>
            </a:r>
          </a:p>
          <a:p>
            <a:pPr>
              <a:spcBef>
                <a:spcPts val="800"/>
              </a:spcBef>
            </a:pPr>
            <a:r>
              <a:rPr sz="1800">
                <a:solidFill>
                  <a:srgbClr val="CBD5E1"/>
                </a:solidFill>
              </a:rPr>
              <a:t>  •  Water scarcity and decreased crop yields</a:t>
            </a:r>
          </a:p>
          <a:p>
            <a:pPr>
              <a:spcBef>
                <a:spcPts val="800"/>
              </a:spcBef>
            </a:pPr>
            <a:r>
              <a:rPr sz="1800">
                <a:solidFill>
                  <a:srgbClr val="CBD5E1"/>
                </a:solidFill>
              </a:rPr>
              <a:t>  •  Loss of biodiversity and ecosystem disruption</a:t>
            </a:r>
          </a:p>
          <a:p>
            <a:pPr>
              <a:spcBef>
                <a:spcPts val="800"/>
              </a:spcBef>
            </a:pPr>
            <a:r>
              <a:rPr sz="1800">
                <a:solidFill>
                  <a:srgbClr val="CBD5E1"/>
                </a:solidFill>
              </a:rPr>
              <a:t>  •  Negative impacts on human health and mental well-being</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The Impact of Climate Change on Global Food Systems</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lgn="l"/>
            <a:r>
              <a:rPr sz="1800" b="0">
                <a:solidFill>
                  <a:srgbClr val="CBD5E1"/>
                </a:solidFill>
              </a:rPr>
              <a:t>Climate change is altering the patterns of temperature and precipitation, which can lead to reduced crop yields, changed growing seasons, and increased frequency of extreme weather events. This can have devastating effects on food security, particularly for vulnerable populations in developing countries.</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Climate Change Mitigation Strategies</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Transitioning to renewable energy sources, such as solar and wind power</a:t>
            </a:r>
          </a:p>
          <a:p>
            <a:pPr>
              <a:spcBef>
                <a:spcPts val="800"/>
              </a:spcBef>
            </a:pPr>
            <a:r>
              <a:rPr sz="1800">
                <a:solidFill>
                  <a:srgbClr val="CBD5E1"/>
                </a:solidFill>
              </a:rPr>
              <a:t>  •  Increasing energy efficiency in buildings and industry</a:t>
            </a:r>
          </a:p>
          <a:p>
            <a:pPr>
              <a:spcBef>
                <a:spcPts val="800"/>
              </a:spcBef>
            </a:pPr>
            <a:r>
              <a:rPr sz="1800">
                <a:solidFill>
                  <a:srgbClr val="CBD5E1"/>
                </a:solidFill>
              </a:rPr>
              <a:t>  •  Electrifying transportation and promoting sustainable land use</a:t>
            </a:r>
          </a:p>
          <a:p>
            <a:pPr>
              <a:spcBef>
                <a:spcPts val="800"/>
              </a:spcBef>
            </a:pPr>
            <a:r>
              <a:rPr sz="1800">
                <a:solidFill>
                  <a:srgbClr val="CBD5E1"/>
                </a:solidFill>
              </a:rPr>
              <a:t>  •  Carbon capture and storage technologies</a:t>
            </a:r>
          </a:p>
          <a:p>
            <a:pPr>
              <a:spcBef>
                <a:spcPts val="800"/>
              </a:spcBef>
            </a:pPr>
            <a:r>
              <a:rPr sz="1800">
                <a:solidFill>
                  <a:srgbClr val="CBD5E1"/>
                </a:solidFill>
              </a:rPr>
              <a:t>  •  Sustainable consumption patterns and reduced waste</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The Role of International Cooperation in Addressing Climate Change</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lgn="l"/>
            <a:r>
              <a:rPr sz="1800" b="0">
                <a:solidFill>
                  <a:srgbClr val="CBD5E1"/>
                </a:solidFill>
              </a:rPr>
              <a:t>The Paris Agreement, signed by nearly 200 countries, aims to limit global warming to well below 2 degrees Celsius and pursue efforts to limit it to 1.5 degrees Celsius. International cooperation is crucial for sharing knowledge, technologies, and best practices to address the global nature of climate change.</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Key Takeaways</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Climate change is a pressing global issue requiring immediate attention</a:t>
            </a:r>
          </a:p>
          <a:p>
            <a:pPr>
              <a:spcBef>
                <a:spcPts val="800"/>
              </a:spcBef>
            </a:pPr>
            <a:r>
              <a:rPr sz="1800">
                <a:solidFill>
                  <a:srgbClr val="CBD5E1"/>
                </a:solidFill>
              </a:rPr>
              <a:t>  •  Reducing greenhouse gas emissions and transitioning to renewable energy are critical</a:t>
            </a:r>
          </a:p>
          <a:p>
            <a:pPr>
              <a:spcBef>
                <a:spcPts val="800"/>
              </a:spcBef>
            </a:pPr>
            <a:r>
              <a:rPr sz="1800">
                <a:solidFill>
                  <a:srgbClr val="CBD5E1"/>
                </a:solidFill>
              </a:rPr>
              <a:t>  •  International cooperation and collective action are necessary to address the global nature of climate change</a:t>
            </a:r>
          </a:p>
          <a:p>
            <a:pPr>
              <a:spcBef>
                <a:spcPts val="800"/>
              </a:spcBef>
            </a:pPr>
            <a:r>
              <a:rPr sz="1800">
                <a:solidFill>
                  <a:srgbClr val="CBD5E1"/>
                </a:solidFill>
              </a:rPr>
              <a:t>  •  Climate change has significant consequences for ecosystems, human health, and the economy</a:t>
            </a:r>
          </a:p>
          <a:p>
            <a:pPr>
              <a:spcBef>
                <a:spcPts val="800"/>
              </a:spcBef>
            </a:pPr>
            <a:r>
              <a:rPr sz="1800">
                <a:solidFill>
                  <a:srgbClr val="CBD5E1"/>
                </a:solidFill>
              </a:rPr>
              <a:t>  •  Individual and collective actions can make a difference in mitigating climate change</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