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0152" cy="1645920"/>
          </a:xfrm>
          <a:prstGeom prst="rect">
            <a:avLst/>
          </a:prstGeom>
          <a:noFill/>
        </p:spPr>
        <p:txBody>
          <a:bodyPr wrap="square">
            <a:spAutoFit/>
          </a:bodyPr>
          <a:lstStyle/>
          <a:p>
            <a:pPr algn="ctr"/>
            <a:r>
              <a:rPr sz="4400" b="1">
                <a:solidFill>
                  <a:srgbClr val="FFFFFF"/>
                </a:solidFill>
              </a:rPr>
              <a:t>Climate Change: The Defining Issue of Our Time</a:t>
            </a:r>
          </a:p>
        </p:txBody>
      </p:sp>
      <p:sp>
        <p:nvSpPr>
          <p:cNvPr id="4" name="TextBox 3"/>
          <p:cNvSpPr txBox="1"/>
          <p:nvPr/>
        </p:nvSpPr>
        <p:spPr>
          <a:xfrm>
            <a:off x="1371600" y="3840480"/>
            <a:ext cx="9445752" cy="731520"/>
          </a:xfrm>
          <a:prstGeom prst="rect">
            <a:avLst/>
          </a:prstGeom>
          <a:noFill/>
        </p:spPr>
        <p:txBody>
          <a:bodyPr wrap="square">
            <a:spAutoFit/>
          </a:bodyPr>
          <a:lstStyle/>
          <a:p>
            <a:pPr algn="ctr"/>
            <a:r>
              <a:rPr sz="2000" b="0">
                <a:solidFill>
                  <a:srgbClr val="94A3B8"/>
                </a:solidFill>
              </a:rPr>
              <a:t>Understanding the Science, Impacts, and Solutions</a:t>
            </a:r>
          </a:p>
        </p:txBody>
      </p:sp>
      <p:sp>
        <p:nvSpPr>
          <p:cNvPr id="5" name="TextBox 4"/>
          <p:cNvSpPr txBox="1"/>
          <p:nvPr/>
        </p:nvSpPr>
        <p:spPr>
          <a:xfrm>
            <a:off x="457200" y="6217920"/>
            <a:ext cx="11274552" cy="365760"/>
          </a:xfrm>
          <a:prstGeom prst="rect">
            <a:avLst/>
          </a:prstGeom>
          <a:noFill/>
        </p:spPr>
        <p:txBody>
          <a:bodyPr wrap="square">
            <a:spAutoFit/>
          </a:bodyPr>
          <a:lstStyle/>
          <a:p>
            <a:pPr algn="ctr"/>
            <a:r>
              <a:rPr sz="1000" b="0">
                <a:solidFill>
                  <a:srgbClr val="94A3B8"/>
                </a:solidFill>
              </a:rPr>
              <a:t>CLIMATE CHANGE</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1 /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Causes of Climate Change</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spcBef>
                <a:spcPts val="800"/>
              </a:spcBef>
            </a:pPr>
            <a:r>
              <a:rPr sz="1800">
                <a:solidFill>
                  <a:srgbClr val="CBD5E1"/>
                </a:solidFill>
              </a:rPr>
              <a:t>  •  Greenhouse gas emissions from fossil fuel combustion</a:t>
            </a:r>
          </a:p>
          <a:p>
            <a:pPr>
              <a:spcBef>
                <a:spcPts val="800"/>
              </a:spcBef>
            </a:pPr>
            <a:r>
              <a:rPr sz="1800">
                <a:solidFill>
                  <a:srgbClr val="CBD5E1"/>
                </a:solidFill>
              </a:rPr>
              <a:t>  •  Deforestation and land-use changes</a:t>
            </a:r>
          </a:p>
          <a:p>
            <a:pPr>
              <a:spcBef>
                <a:spcPts val="800"/>
              </a:spcBef>
            </a:pPr>
            <a:r>
              <a:rPr sz="1800">
                <a:solidFill>
                  <a:srgbClr val="CBD5E1"/>
                </a:solidFill>
              </a:rPr>
              <a:t>  •  Agricultural practices and methane emissions</a:t>
            </a:r>
          </a:p>
          <a:p>
            <a:pPr>
              <a:spcBef>
                <a:spcPts val="800"/>
              </a:spcBef>
            </a:pPr>
            <a:r>
              <a:rPr sz="1800">
                <a:solidFill>
                  <a:srgbClr val="CBD5E1"/>
                </a:solidFill>
              </a:rPr>
              <a:t>  •  Industrial processes and fluorinated gas emissions</a:t>
            </a:r>
          </a:p>
          <a:p>
            <a:pPr>
              <a:spcBef>
                <a:spcPts val="800"/>
              </a:spcBef>
            </a:pPr>
            <a:r>
              <a:rPr sz="1800">
                <a:solidFill>
                  <a:srgbClr val="CBD5E1"/>
                </a:solidFill>
              </a:rPr>
              <a:t>  •  Population growth and consumption patterns</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Rising Global Temperatures</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lgn="l"/>
            <a:r>
              <a:rPr sz="1800" b="0">
                <a:solidFill>
                  <a:srgbClr val="CBD5E1"/>
                </a:solidFill>
              </a:rPr>
              <a:t>The average global temperature has risen by about 1.8 degrees Fahrenheit since the late 1800s, with the last decade being the warmest on record. This warming is primarily driven by the increasing levels of greenhouse gases in the atmosphere, which trap heat and prevent it from being released back into space.</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Consequences of Climate Change</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spcBef>
                <a:spcPts val="800"/>
              </a:spcBef>
            </a:pPr>
            <a:r>
              <a:rPr sz="1800">
                <a:solidFill>
                  <a:srgbClr val="CBD5E1"/>
                </a:solidFill>
              </a:rPr>
              <a:t>  •  More frequent and severe heatwaves, droughts, and storms</a:t>
            </a:r>
          </a:p>
          <a:p>
            <a:pPr>
              <a:spcBef>
                <a:spcPts val="800"/>
              </a:spcBef>
            </a:pPr>
            <a:r>
              <a:rPr sz="1800">
                <a:solidFill>
                  <a:srgbClr val="CBD5E1"/>
                </a:solidFill>
              </a:rPr>
              <a:t>  •  Sea-level rise and coastal flooding</a:t>
            </a:r>
          </a:p>
          <a:p>
            <a:pPr>
              <a:spcBef>
                <a:spcPts val="800"/>
              </a:spcBef>
            </a:pPr>
            <a:r>
              <a:rPr sz="1800">
                <a:solidFill>
                  <a:srgbClr val="CBD5E1"/>
                </a:solidFill>
              </a:rPr>
              <a:t>  •  Water scarcity and decreased crop yields</a:t>
            </a:r>
          </a:p>
          <a:p>
            <a:pPr>
              <a:spcBef>
                <a:spcPts val="800"/>
              </a:spcBef>
            </a:pPr>
            <a:r>
              <a:rPr sz="1800">
                <a:solidFill>
                  <a:srgbClr val="CBD5E1"/>
                </a:solidFill>
              </a:rPr>
              <a:t>  •  Loss of biodiversity and ecosystem disruption</a:t>
            </a:r>
          </a:p>
          <a:p>
            <a:pPr>
              <a:spcBef>
                <a:spcPts val="800"/>
              </a:spcBef>
            </a:pPr>
            <a:r>
              <a:rPr sz="1800">
                <a:solidFill>
                  <a:srgbClr val="CBD5E1"/>
                </a:solidFill>
              </a:rPr>
              <a:t>  •  Negative impacts on human health and well-being</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The Importance of Renewable Energy</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lgn="l"/>
            <a:r>
              <a:rPr sz="1800" b="0">
                <a:solidFill>
                  <a:srgbClr val="CBD5E1"/>
                </a:solidFill>
              </a:rPr>
              <a:t>Transitioning to renewable energy sources, such as solar and wind power, is crucial for reducing our reliance on fossil fuels and mitigating climate change. Renewable energy can help decrease greenhouse gas emissions, improve air quality, and enhance energy security, while also creating jobs and stimulating local economies.</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Climate Change Mitigation Strategies</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spcBef>
                <a:spcPts val="800"/>
              </a:spcBef>
            </a:pPr>
            <a:r>
              <a:rPr sz="1800">
                <a:solidFill>
                  <a:srgbClr val="CBD5E1"/>
                </a:solidFill>
              </a:rPr>
              <a:t>  •  Increase energy efficiency in buildings and industry</a:t>
            </a:r>
          </a:p>
          <a:p>
            <a:pPr>
              <a:spcBef>
                <a:spcPts val="800"/>
              </a:spcBef>
            </a:pPr>
            <a:r>
              <a:rPr sz="1800">
                <a:solidFill>
                  <a:srgbClr val="CBD5E1"/>
                </a:solidFill>
              </a:rPr>
              <a:t>  •  Electrify transportation and promote sustainable land use</a:t>
            </a:r>
          </a:p>
          <a:p>
            <a:pPr>
              <a:spcBef>
                <a:spcPts val="800"/>
              </a:spcBef>
            </a:pPr>
            <a:r>
              <a:rPr sz="1800">
                <a:solidFill>
                  <a:srgbClr val="CBD5E1"/>
                </a:solidFill>
              </a:rPr>
              <a:t>  •  Develop and deploy carbon capture and storage technologies</a:t>
            </a:r>
          </a:p>
          <a:p>
            <a:pPr>
              <a:spcBef>
                <a:spcPts val="800"/>
              </a:spcBef>
            </a:pPr>
            <a:r>
              <a:rPr sz="1800">
                <a:solidFill>
                  <a:srgbClr val="CBD5E1"/>
                </a:solidFill>
              </a:rPr>
              <a:t>  •  Implement climate-resilient agriculture and forestry practices</a:t>
            </a:r>
          </a:p>
          <a:p>
            <a:pPr>
              <a:spcBef>
                <a:spcPts val="800"/>
              </a:spcBef>
            </a:pPr>
            <a:r>
              <a:rPr sz="1800">
                <a:solidFill>
                  <a:srgbClr val="CBD5E1"/>
                </a:solidFill>
              </a:rPr>
              <a:t>  •  Support climate change research, development, and innovation</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The Role of Individuals in Addressing Climate Change</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lgn="l"/>
            <a:r>
              <a:rPr sz="1800" b="0">
                <a:solidFill>
                  <a:srgbClr val="CBD5E1"/>
                </a:solidFill>
              </a:rPr>
              <a:t>While governments and corporations have a critical role to play in addressing climate change, individual actions can collectively make a significant difference. By making conscious choices, such as reducing energy consumption, using public transport, eating a plant-based diet, and supporting climate-friendly policies, individuals can contribute to a more sustainable future and inspire others to take action.</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Key Takeaways</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spcBef>
                <a:spcPts val="800"/>
              </a:spcBef>
            </a:pPr>
            <a:r>
              <a:rPr sz="1800">
                <a:solidFill>
                  <a:srgbClr val="CBD5E1"/>
                </a:solidFill>
              </a:rPr>
              <a:t>  •  Climate change is a pressing global issue that requires immediate attention</a:t>
            </a:r>
          </a:p>
          <a:p>
            <a:pPr>
              <a:spcBef>
                <a:spcPts val="800"/>
              </a:spcBef>
            </a:pPr>
            <a:r>
              <a:rPr sz="1800">
                <a:solidFill>
                  <a:srgbClr val="CBD5E1"/>
                </a:solidFill>
              </a:rPr>
              <a:t>  •  Transitioning to renewable energy and increasing energy efficiency are critical for mitigation</a:t>
            </a:r>
          </a:p>
          <a:p>
            <a:pPr>
              <a:spcBef>
                <a:spcPts val="800"/>
              </a:spcBef>
            </a:pPr>
            <a:r>
              <a:rPr sz="1800">
                <a:solidFill>
                  <a:srgbClr val="CBD5E1"/>
                </a:solidFill>
              </a:rPr>
              <a:t>  •  Individual actions can collectively drive positive change and support a sustainable future</a:t>
            </a:r>
          </a:p>
          <a:p>
            <a:pPr>
              <a:spcBef>
                <a:spcPts val="800"/>
              </a:spcBef>
            </a:pPr>
            <a:r>
              <a:rPr sz="1800">
                <a:solidFill>
                  <a:srgbClr val="CBD5E1"/>
                </a:solidFill>
              </a:rPr>
              <a:t>  •  Climate change has significant economic, social, and environmental implications</a:t>
            </a:r>
          </a:p>
          <a:p>
            <a:pPr>
              <a:spcBef>
                <a:spcPts val="800"/>
              </a:spcBef>
            </a:pPr>
            <a:r>
              <a:rPr sz="1800">
                <a:solidFill>
                  <a:srgbClr val="CBD5E1"/>
                </a:solidFill>
              </a:rPr>
              <a:t>  •  International cooperation and collective action are necessary for effective climate change mitigation and adaptation</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