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73152"/>
            <a:ext cx="12188952"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011680"/>
            <a:ext cx="10360152" cy="1645920"/>
          </a:xfrm>
          <a:prstGeom prst="rect">
            <a:avLst/>
          </a:prstGeom>
          <a:noFill/>
        </p:spPr>
        <p:txBody>
          <a:bodyPr wrap="square">
            <a:spAutoFit/>
          </a:bodyPr>
          <a:lstStyle/>
          <a:p>
            <a:pPr algn="ctr"/>
            <a:r>
              <a:rPr sz="4400" b="1">
                <a:solidFill>
                  <a:srgbClr val="FFFFFF"/>
                </a:solidFill>
              </a:rPr>
              <a:t>Climate Change: The Defining Issue of Our Time</a:t>
            </a:r>
          </a:p>
        </p:txBody>
      </p:sp>
      <p:sp>
        <p:nvSpPr>
          <p:cNvPr id="4" name="TextBox 3"/>
          <p:cNvSpPr txBox="1"/>
          <p:nvPr/>
        </p:nvSpPr>
        <p:spPr>
          <a:xfrm>
            <a:off x="1371600" y="3840480"/>
            <a:ext cx="9445752" cy="731520"/>
          </a:xfrm>
          <a:prstGeom prst="rect">
            <a:avLst/>
          </a:prstGeom>
          <a:noFill/>
        </p:spPr>
        <p:txBody>
          <a:bodyPr wrap="square">
            <a:spAutoFit/>
          </a:bodyPr>
          <a:lstStyle/>
          <a:p>
            <a:pPr algn="ctr"/>
            <a:r>
              <a:rPr sz="2000" b="0">
                <a:solidFill>
                  <a:srgbClr val="94A3B8"/>
                </a:solidFill>
              </a:rPr>
              <a:t>Understanding the Causes, Consequences, and Solutions</a:t>
            </a:r>
          </a:p>
        </p:txBody>
      </p:sp>
      <p:sp>
        <p:nvSpPr>
          <p:cNvPr id="5" name="TextBox 4"/>
          <p:cNvSpPr txBox="1"/>
          <p:nvPr/>
        </p:nvSpPr>
        <p:spPr>
          <a:xfrm>
            <a:off x="457200" y="6217920"/>
            <a:ext cx="11274552" cy="365760"/>
          </a:xfrm>
          <a:prstGeom prst="rect">
            <a:avLst/>
          </a:prstGeom>
          <a:noFill/>
        </p:spPr>
        <p:txBody>
          <a:bodyPr wrap="square">
            <a:spAutoFit/>
          </a:bodyPr>
          <a:lstStyle/>
          <a:p>
            <a:pPr algn="ctr"/>
            <a:r>
              <a:rPr sz="1000" b="0">
                <a:solidFill>
                  <a:srgbClr val="94A3B8"/>
                </a:solidFill>
              </a:rPr>
              <a:t>CLIMATE CHANGE</a:t>
            </a:r>
          </a:p>
        </p:txBody>
      </p:sp>
      <p:sp>
        <p:nvSpPr>
          <p:cNvPr id="6" name="TextBox 5"/>
          <p:cNvSpPr txBox="1"/>
          <p:nvPr/>
        </p:nvSpPr>
        <p:spPr>
          <a:xfrm>
            <a:off x="10789920" y="6492240"/>
            <a:ext cx="1097280" cy="274320"/>
          </a:xfrm>
          <a:prstGeom prst="rect">
            <a:avLst/>
          </a:prstGeom>
          <a:noFill/>
        </p:spPr>
        <p:txBody>
          <a:bodyPr wrap="square">
            <a:spAutoFit/>
          </a:bodyPr>
          <a:lstStyle/>
          <a:p>
            <a:pPr algn="r"/>
            <a:r>
              <a:rPr sz="900" b="0">
                <a:solidFill>
                  <a:srgbClr val="94A3B8"/>
                </a:solidFill>
              </a:rPr>
              <a:t>1 / 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73152"/>
            <a:ext cx="12188952"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515600" cy="822960"/>
          </a:xfrm>
          <a:prstGeom prst="rect">
            <a:avLst/>
          </a:prstGeom>
          <a:noFill/>
        </p:spPr>
        <p:txBody>
          <a:bodyPr wrap="square">
            <a:spAutoFit/>
          </a:bodyPr>
          <a:lstStyle/>
          <a:p>
            <a:pPr algn="l"/>
            <a:r>
              <a:rPr sz="2800" b="1">
                <a:solidFill>
                  <a:srgbClr val="FFFFFF"/>
                </a:solidFill>
              </a:rPr>
              <a:t>Causes of Climate Change</a:t>
            </a:r>
          </a:p>
        </p:txBody>
      </p:sp>
      <p:sp>
        <p:nvSpPr>
          <p:cNvPr id="4" name="Rectangle 3"/>
          <p:cNvSpPr/>
          <p:nvPr/>
        </p:nvSpPr>
        <p:spPr>
          <a:xfrm>
            <a:off x="548640" y="1234440"/>
            <a:ext cx="27432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63040"/>
            <a:ext cx="10515600" cy="4754880"/>
          </a:xfrm>
          <a:prstGeom prst="rect">
            <a:avLst/>
          </a:prstGeom>
          <a:noFill/>
        </p:spPr>
        <p:txBody>
          <a:bodyPr wrap="square">
            <a:spAutoFit/>
          </a:bodyPr>
          <a:lstStyle/>
          <a:p>
            <a:pPr>
              <a:spcBef>
                <a:spcPts val="800"/>
              </a:spcBef>
            </a:pPr>
            <a:r>
              <a:rPr sz="1800">
                <a:solidFill>
                  <a:srgbClr val="CBD5E1"/>
                </a:solidFill>
              </a:rPr>
              <a:t>  •  Greenhouse gas emissions from fossil fuels</a:t>
            </a:r>
          </a:p>
          <a:p>
            <a:pPr>
              <a:spcBef>
                <a:spcPts val="800"/>
              </a:spcBef>
            </a:pPr>
            <a:r>
              <a:rPr sz="1800">
                <a:solidFill>
                  <a:srgbClr val="CBD5E1"/>
                </a:solidFill>
              </a:rPr>
              <a:t>  •  Deforestation and land-use changes</a:t>
            </a:r>
          </a:p>
          <a:p>
            <a:pPr>
              <a:spcBef>
                <a:spcPts val="800"/>
              </a:spcBef>
            </a:pPr>
            <a:r>
              <a:rPr sz="1800">
                <a:solidFill>
                  <a:srgbClr val="CBD5E1"/>
                </a:solidFill>
              </a:rPr>
              <a:t>  •  Agricultural practices and methane emissions</a:t>
            </a:r>
          </a:p>
          <a:p>
            <a:pPr>
              <a:spcBef>
                <a:spcPts val="800"/>
              </a:spcBef>
            </a:pPr>
            <a:r>
              <a:rPr sz="1800">
                <a:solidFill>
                  <a:srgbClr val="CBD5E1"/>
                </a:solidFill>
              </a:rPr>
              <a:t>  •  Industrial processes and fluorinated gases</a:t>
            </a:r>
          </a:p>
          <a:p>
            <a:pPr>
              <a:spcBef>
                <a:spcPts val="800"/>
              </a:spcBef>
            </a:pPr>
            <a:r>
              <a:rPr sz="1800">
                <a:solidFill>
                  <a:srgbClr val="CBD5E1"/>
                </a:solidFill>
              </a:rPr>
              <a:t>  •  Population growth and consumption patterns</a:t>
            </a:r>
          </a:p>
        </p:txBody>
      </p:sp>
      <p:sp>
        <p:nvSpPr>
          <p:cNvPr id="6" name="TextBox 5"/>
          <p:cNvSpPr txBox="1"/>
          <p:nvPr/>
        </p:nvSpPr>
        <p:spPr>
          <a:xfrm>
            <a:off x="10789920" y="6492240"/>
            <a:ext cx="1097280" cy="274320"/>
          </a:xfrm>
          <a:prstGeom prst="rect">
            <a:avLst/>
          </a:prstGeom>
          <a:noFill/>
        </p:spPr>
        <p:txBody>
          <a:bodyPr wrap="square">
            <a:spAutoFit/>
          </a:bodyPr>
          <a:lstStyle/>
          <a:p>
            <a:pPr algn="r"/>
            <a:r>
              <a:rPr sz="900" b="0">
                <a:solidFill>
                  <a:srgbClr val="94A3B8"/>
                </a:solidFill>
              </a:rPr>
              <a:t>2 / 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73152"/>
            <a:ext cx="12188952"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515600" cy="822960"/>
          </a:xfrm>
          <a:prstGeom prst="rect">
            <a:avLst/>
          </a:prstGeom>
          <a:noFill/>
        </p:spPr>
        <p:txBody>
          <a:bodyPr wrap="square">
            <a:spAutoFit/>
          </a:bodyPr>
          <a:lstStyle/>
          <a:p>
            <a:pPr algn="l"/>
            <a:r>
              <a:rPr sz="2800" b="1">
                <a:solidFill>
                  <a:srgbClr val="FFFFFF"/>
                </a:solidFill>
              </a:rPr>
              <a:t>Rising Global Temperatures</a:t>
            </a:r>
          </a:p>
        </p:txBody>
      </p:sp>
      <p:sp>
        <p:nvSpPr>
          <p:cNvPr id="4" name="Rectangle 3"/>
          <p:cNvSpPr/>
          <p:nvPr/>
        </p:nvSpPr>
        <p:spPr>
          <a:xfrm>
            <a:off x="548640" y="1234440"/>
            <a:ext cx="27432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63040"/>
            <a:ext cx="10515600" cy="4754880"/>
          </a:xfrm>
          <a:prstGeom prst="rect">
            <a:avLst/>
          </a:prstGeom>
          <a:noFill/>
        </p:spPr>
        <p:txBody>
          <a:bodyPr wrap="square">
            <a:spAutoFit/>
          </a:bodyPr>
          <a:lstStyle/>
          <a:p>
            <a:pPr algn="l"/>
            <a:r>
              <a:rPr sz="1800" b="0">
                <a:solidFill>
                  <a:srgbClr val="CBD5E1"/>
                </a:solidFill>
              </a:rPr>
              <a:t>The average global temperature has risen by about 1.8 degrees Fahrenheit since the late 1800s, with the last decade being the warmest on record. This increase in temperature is having a profound impact on ecosystems, biodiversity, and human societies around the world.</a:t>
            </a:r>
          </a:p>
        </p:txBody>
      </p:sp>
      <p:sp>
        <p:nvSpPr>
          <p:cNvPr id="6" name="TextBox 5"/>
          <p:cNvSpPr txBox="1"/>
          <p:nvPr/>
        </p:nvSpPr>
        <p:spPr>
          <a:xfrm>
            <a:off x="10789920" y="6492240"/>
            <a:ext cx="1097280" cy="274320"/>
          </a:xfrm>
          <a:prstGeom prst="rect">
            <a:avLst/>
          </a:prstGeom>
          <a:noFill/>
        </p:spPr>
        <p:txBody>
          <a:bodyPr wrap="square">
            <a:spAutoFit/>
          </a:bodyPr>
          <a:lstStyle/>
          <a:p>
            <a:pPr algn="r"/>
            <a:r>
              <a:rPr sz="900" b="0">
                <a:solidFill>
                  <a:srgbClr val="94A3B8"/>
                </a:solidFill>
              </a:rPr>
              <a:t>3 / 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73152"/>
            <a:ext cx="12188952"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515600" cy="822960"/>
          </a:xfrm>
          <a:prstGeom prst="rect">
            <a:avLst/>
          </a:prstGeom>
          <a:noFill/>
        </p:spPr>
        <p:txBody>
          <a:bodyPr wrap="square">
            <a:spAutoFit/>
          </a:bodyPr>
          <a:lstStyle/>
          <a:p>
            <a:pPr algn="l"/>
            <a:r>
              <a:rPr sz="2800" b="1">
                <a:solidFill>
                  <a:srgbClr val="FFFFFF"/>
                </a:solidFill>
              </a:rPr>
              <a:t>Consequences of Climate Change</a:t>
            </a:r>
          </a:p>
        </p:txBody>
      </p:sp>
      <p:sp>
        <p:nvSpPr>
          <p:cNvPr id="4" name="Rectangle 3"/>
          <p:cNvSpPr/>
          <p:nvPr/>
        </p:nvSpPr>
        <p:spPr>
          <a:xfrm>
            <a:off x="548640" y="1234440"/>
            <a:ext cx="27432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63040"/>
            <a:ext cx="10515600" cy="4754880"/>
          </a:xfrm>
          <a:prstGeom prst="rect">
            <a:avLst/>
          </a:prstGeom>
          <a:noFill/>
        </p:spPr>
        <p:txBody>
          <a:bodyPr wrap="square">
            <a:spAutoFit/>
          </a:bodyPr>
          <a:lstStyle/>
          <a:p>
            <a:pPr>
              <a:spcBef>
                <a:spcPts val="800"/>
              </a:spcBef>
            </a:pPr>
            <a:r>
              <a:rPr sz="1800">
                <a:solidFill>
                  <a:srgbClr val="CBD5E1"/>
                </a:solidFill>
              </a:rPr>
              <a:t>  •  More frequent and severe heatwaves, droughts, and storms</a:t>
            </a:r>
          </a:p>
          <a:p>
            <a:pPr>
              <a:spcBef>
                <a:spcPts val="800"/>
              </a:spcBef>
            </a:pPr>
            <a:r>
              <a:rPr sz="1800">
                <a:solidFill>
                  <a:srgbClr val="CBD5E1"/>
                </a:solidFill>
              </a:rPr>
              <a:t>  •  Sea-level rise and coastal erosion</a:t>
            </a:r>
          </a:p>
          <a:p>
            <a:pPr>
              <a:spcBef>
                <a:spcPts val="800"/>
              </a:spcBef>
            </a:pPr>
            <a:r>
              <a:rPr sz="1800">
                <a:solidFill>
                  <a:srgbClr val="CBD5E1"/>
                </a:solidFill>
              </a:rPr>
              <a:t>  •  Water scarcity and decreased crop yields</a:t>
            </a:r>
          </a:p>
          <a:p>
            <a:pPr>
              <a:spcBef>
                <a:spcPts val="800"/>
              </a:spcBef>
            </a:pPr>
            <a:r>
              <a:rPr sz="1800">
                <a:solidFill>
                  <a:srgbClr val="CBD5E1"/>
                </a:solidFill>
              </a:rPr>
              <a:t>  •  Loss of biodiversity and ecosystem disruption</a:t>
            </a:r>
          </a:p>
          <a:p>
            <a:pPr>
              <a:spcBef>
                <a:spcPts val="800"/>
              </a:spcBef>
            </a:pPr>
            <a:r>
              <a:rPr sz="1800">
                <a:solidFill>
                  <a:srgbClr val="CBD5E1"/>
                </a:solidFill>
              </a:rPr>
              <a:t>  •  Negative impacts on human health and well-being</a:t>
            </a:r>
          </a:p>
        </p:txBody>
      </p:sp>
      <p:sp>
        <p:nvSpPr>
          <p:cNvPr id="6" name="TextBox 5"/>
          <p:cNvSpPr txBox="1"/>
          <p:nvPr/>
        </p:nvSpPr>
        <p:spPr>
          <a:xfrm>
            <a:off x="10789920" y="6492240"/>
            <a:ext cx="1097280" cy="274320"/>
          </a:xfrm>
          <a:prstGeom prst="rect">
            <a:avLst/>
          </a:prstGeom>
          <a:noFill/>
        </p:spPr>
        <p:txBody>
          <a:bodyPr wrap="square">
            <a:spAutoFit/>
          </a:bodyPr>
          <a:lstStyle/>
          <a:p>
            <a:pPr algn="r"/>
            <a:r>
              <a:rPr sz="900" b="0">
                <a:solidFill>
                  <a:srgbClr val="94A3B8"/>
                </a:solidFill>
              </a:rPr>
              <a:t>4 / 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73152"/>
            <a:ext cx="12188952"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515600" cy="822960"/>
          </a:xfrm>
          <a:prstGeom prst="rect">
            <a:avLst/>
          </a:prstGeom>
          <a:noFill/>
        </p:spPr>
        <p:txBody>
          <a:bodyPr wrap="square">
            <a:spAutoFit/>
          </a:bodyPr>
          <a:lstStyle/>
          <a:p>
            <a:pPr algn="l"/>
            <a:r>
              <a:rPr sz="2800" b="1">
                <a:solidFill>
                  <a:srgbClr val="FFFFFF"/>
                </a:solidFill>
              </a:rPr>
              <a:t>The Importance of Renewable Energy</a:t>
            </a:r>
          </a:p>
        </p:txBody>
      </p:sp>
      <p:sp>
        <p:nvSpPr>
          <p:cNvPr id="4" name="Rectangle 3"/>
          <p:cNvSpPr/>
          <p:nvPr/>
        </p:nvSpPr>
        <p:spPr>
          <a:xfrm>
            <a:off x="548640" y="1234440"/>
            <a:ext cx="27432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63040"/>
            <a:ext cx="10515600" cy="4754880"/>
          </a:xfrm>
          <a:prstGeom prst="rect">
            <a:avLst/>
          </a:prstGeom>
          <a:noFill/>
        </p:spPr>
        <p:txBody>
          <a:bodyPr wrap="square">
            <a:spAutoFit/>
          </a:bodyPr>
          <a:lstStyle/>
          <a:p>
            <a:pPr algn="l"/>
            <a:r>
              <a:rPr sz="1800" b="0">
                <a:solidFill>
                  <a:srgbClr val="CBD5E1"/>
                </a:solidFill>
              </a:rPr>
              <a:t>Transitioning to renewable energy sources like solar, wind, and hydroelectric power is crucial for reducing our reliance on fossil fuels and mitigating the effects of climate change. In addition to reducing greenhouse gas emissions, renewable energy can also create jobs, stimulate local economies, and improve air quality.</a:t>
            </a:r>
          </a:p>
        </p:txBody>
      </p:sp>
      <p:sp>
        <p:nvSpPr>
          <p:cNvPr id="6" name="TextBox 5"/>
          <p:cNvSpPr txBox="1"/>
          <p:nvPr/>
        </p:nvSpPr>
        <p:spPr>
          <a:xfrm>
            <a:off x="10789920" y="6492240"/>
            <a:ext cx="1097280" cy="274320"/>
          </a:xfrm>
          <a:prstGeom prst="rect">
            <a:avLst/>
          </a:prstGeom>
          <a:noFill/>
        </p:spPr>
        <p:txBody>
          <a:bodyPr wrap="square">
            <a:spAutoFit/>
          </a:bodyPr>
          <a:lstStyle/>
          <a:p>
            <a:pPr algn="r"/>
            <a:r>
              <a:rPr sz="900" b="0">
                <a:solidFill>
                  <a:srgbClr val="94A3B8"/>
                </a:solidFill>
              </a:rPr>
              <a:t>5 / 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73152"/>
            <a:ext cx="12188952"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515600" cy="822960"/>
          </a:xfrm>
          <a:prstGeom prst="rect">
            <a:avLst/>
          </a:prstGeom>
          <a:noFill/>
        </p:spPr>
        <p:txBody>
          <a:bodyPr wrap="square">
            <a:spAutoFit/>
          </a:bodyPr>
          <a:lstStyle/>
          <a:p>
            <a:pPr algn="l"/>
            <a:r>
              <a:rPr sz="2800" b="1">
                <a:solidFill>
                  <a:srgbClr val="FFFFFF"/>
                </a:solidFill>
              </a:rPr>
              <a:t>Climate Change Mitigation Strategies</a:t>
            </a:r>
          </a:p>
        </p:txBody>
      </p:sp>
      <p:sp>
        <p:nvSpPr>
          <p:cNvPr id="4" name="Rectangle 3"/>
          <p:cNvSpPr/>
          <p:nvPr/>
        </p:nvSpPr>
        <p:spPr>
          <a:xfrm>
            <a:off x="548640" y="1234440"/>
            <a:ext cx="27432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63040"/>
            <a:ext cx="10515600" cy="4754880"/>
          </a:xfrm>
          <a:prstGeom prst="rect">
            <a:avLst/>
          </a:prstGeom>
          <a:noFill/>
        </p:spPr>
        <p:txBody>
          <a:bodyPr wrap="square">
            <a:spAutoFit/>
          </a:bodyPr>
          <a:lstStyle/>
          <a:p>
            <a:pPr>
              <a:spcBef>
                <a:spcPts val="800"/>
              </a:spcBef>
            </a:pPr>
            <a:r>
              <a:rPr sz="1800">
                <a:solidFill>
                  <a:srgbClr val="CBD5E1"/>
                </a:solidFill>
              </a:rPr>
              <a:t>  •  Increase energy efficiency in buildings and industry</a:t>
            </a:r>
          </a:p>
          <a:p>
            <a:pPr>
              <a:spcBef>
                <a:spcPts val="800"/>
              </a:spcBef>
            </a:pPr>
            <a:r>
              <a:rPr sz="1800">
                <a:solidFill>
                  <a:srgbClr val="CBD5E1"/>
                </a:solidFill>
              </a:rPr>
              <a:t>  •  Electrify transportation and promote sustainable land use</a:t>
            </a:r>
          </a:p>
          <a:p>
            <a:pPr>
              <a:spcBef>
                <a:spcPts val="800"/>
              </a:spcBef>
            </a:pPr>
            <a:r>
              <a:rPr sz="1800">
                <a:solidFill>
                  <a:srgbClr val="CBD5E1"/>
                </a:solidFill>
              </a:rPr>
              <a:t>  •  Protect and restore natural carbon sinks like forests and wetlands</a:t>
            </a:r>
          </a:p>
          <a:p>
            <a:pPr>
              <a:spcBef>
                <a:spcPts val="800"/>
              </a:spcBef>
            </a:pPr>
            <a:r>
              <a:rPr sz="1800">
                <a:solidFill>
                  <a:srgbClr val="CBD5E1"/>
                </a:solidFill>
              </a:rPr>
              <a:t>  •  Develop and deploy carbon capture and storage technologies</a:t>
            </a:r>
          </a:p>
          <a:p>
            <a:pPr>
              <a:spcBef>
                <a:spcPts val="800"/>
              </a:spcBef>
            </a:pPr>
            <a:r>
              <a:rPr sz="1800">
                <a:solidFill>
                  <a:srgbClr val="CBD5E1"/>
                </a:solidFill>
              </a:rPr>
              <a:t>  •  Implement climate-resilient infrastructure and urban planning</a:t>
            </a:r>
          </a:p>
        </p:txBody>
      </p:sp>
      <p:sp>
        <p:nvSpPr>
          <p:cNvPr id="6" name="TextBox 5"/>
          <p:cNvSpPr txBox="1"/>
          <p:nvPr/>
        </p:nvSpPr>
        <p:spPr>
          <a:xfrm>
            <a:off x="10789920" y="6492240"/>
            <a:ext cx="1097280" cy="274320"/>
          </a:xfrm>
          <a:prstGeom prst="rect">
            <a:avLst/>
          </a:prstGeom>
          <a:noFill/>
        </p:spPr>
        <p:txBody>
          <a:bodyPr wrap="square">
            <a:spAutoFit/>
          </a:bodyPr>
          <a:lstStyle/>
          <a:p>
            <a:pPr algn="r"/>
            <a:r>
              <a:rPr sz="900" b="0">
                <a:solidFill>
                  <a:srgbClr val="94A3B8"/>
                </a:solidFill>
              </a:rPr>
              <a:t>6 / 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73152"/>
            <a:ext cx="12188952"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515600" cy="822960"/>
          </a:xfrm>
          <a:prstGeom prst="rect">
            <a:avLst/>
          </a:prstGeom>
          <a:noFill/>
        </p:spPr>
        <p:txBody>
          <a:bodyPr wrap="square">
            <a:spAutoFit/>
          </a:bodyPr>
          <a:lstStyle/>
          <a:p>
            <a:pPr algn="l"/>
            <a:r>
              <a:rPr sz="2800" b="1">
                <a:solidFill>
                  <a:srgbClr val="FFFFFF"/>
                </a:solidFill>
              </a:rPr>
              <a:t>The Role of International Cooperation</a:t>
            </a:r>
          </a:p>
        </p:txBody>
      </p:sp>
      <p:sp>
        <p:nvSpPr>
          <p:cNvPr id="4" name="Rectangle 3"/>
          <p:cNvSpPr/>
          <p:nvPr/>
        </p:nvSpPr>
        <p:spPr>
          <a:xfrm>
            <a:off x="548640" y="1234440"/>
            <a:ext cx="27432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63040"/>
            <a:ext cx="10515600" cy="4754880"/>
          </a:xfrm>
          <a:prstGeom prst="rect">
            <a:avLst/>
          </a:prstGeom>
          <a:noFill/>
        </p:spPr>
        <p:txBody>
          <a:bodyPr wrap="square">
            <a:spAutoFit/>
          </a:bodyPr>
          <a:lstStyle/>
          <a:p>
            <a:pPr algn="l"/>
            <a:r>
              <a:rPr sz="1800" b="0">
                <a:solidFill>
                  <a:srgbClr val="CBD5E1"/>
                </a:solidFill>
              </a:rPr>
              <a:t>Addressing climate change requires a global response, with countries working together to share knowledge, technologies, and best practices. International agreements like the Paris Agreement provide a framework for cooperation, but more needs to be done to support climate change mitigation and adaptation efforts in developing countries.</a:t>
            </a:r>
          </a:p>
        </p:txBody>
      </p:sp>
      <p:sp>
        <p:nvSpPr>
          <p:cNvPr id="6" name="TextBox 5"/>
          <p:cNvSpPr txBox="1"/>
          <p:nvPr/>
        </p:nvSpPr>
        <p:spPr>
          <a:xfrm>
            <a:off x="10789920" y="6492240"/>
            <a:ext cx="1097280" cy="274320"/>
          </a:xfrm>
          <a:prstGeom prst="rect">
            <a:avLst/>
          </a:prstGeom>
          <a:noFill/>
        </p:spPr>
        <p:txBody>
          <a:bodyPr wrap="square">
            <a:spAutoFit/>
          </a:bodyPr>
          <a:lstStyle/>
          <a:p>
            <a:pPr algn="r"/>
            <a:r>
              <a:rPr sz="900" b="0">
                <a:solidFill>
                  <a:srgbClr val="94A3B8"/>
                </a:solidFill>
              </a:rPr>
              <a:t>7 / 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73152"/>
            <a:ext cx="12188952"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515600" cy="822960"/>
          </a:xfrm>
          <a:prstGeom prst="rect">
            <a:avLst/>
          </a:prstGeom>
          <a:noFill/>
        </p:spPr>
        <p:txBody>
          <a:bodyPr wrap="square">
            <a:spAutoFit/>
          </a:bodyPr>
          <a:lstStyle/>
          <a:p>
            <a:pPr algn="l"/>
            <a:r>
              <a:rPr sz="2800" b="1">
                <a:solidFill>
                  <a:srgbClr val="FFFFFF"/>
                </a:solidFill>
              </a:rPr>
              <a:t>Key Takeaways</a:t>
            </a:r>
          </a:p>
        </p:txBody>
      </p:sp>
      <p:sp>
        <p:nvSpPr>
          <p:cNvPr id="4" name="Rectangle 3"/>
          <p:cNvSpPr/>
          <p:nvPr/>
        </p:nvSpPr>
        <p:spPr>
          <a:xfrm>
            <a:off x="548640" y="1234440"/>
            <a:ext cx="27432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63040"/>
            <a:ext cx="10515600" cy="4754880"/>
          </a:xfrm>
          <a:prstGeom prst="rect">
            <a:avLst/>
          </a:prstGeom>
          <a:noFill/>
        </p:spPr>
        <p:txBody>
          <a:bodyPr wrap="square">
            <a:spAutoFit/>
          </a:bodyPr>
          <a:lstStyle/>
          <a:p>
            <a:pPr>
              <a:spcBef>
                <a:spcPts val="800"/>
              </a:spcBef>
            </a:pPr>
            <a:r>
              <a:rPr sz="1800">
                <a:solidFill>
                  <a:srgbClr val="CBD5E1"/>
                </a:solidFill>
              </a:rPr>
              <a:t>  •  Climate change is a pressing global issue that requires immediate attention</a:t>
            </a:r>
          </a:p>
          <a:p>
            <a:pPr>
              <a:spcBef>
                <a:spcPts val="800"/>
              </a:spcBef>
            </a:pPr>
            <a:r>
              <a:rPr sz="1800">
                <a:solidFill>
                  <a:srgbClr val="CBD5E1"/>
                </a:solidFill>
              </a:rPr>
              <a:t>  •  Transitioning to renewable energy and increasing energy efficiency are crucial for mitigation</a:t>
            </a:r>
          </a:p>
          <a:p>
            <a:pPr>
              <a:spcBef>
                <a:spcPts val="800"/>
              </a:spcBef>
            </a:pPr>
            <a:r>
              <a:rPr sz="1800">
                <a:solidFill>
                  <a:srgbClr val="CBD5E1"/>
                </a:solidFill>
              </a:rPr>
              <a:t>  •  International cooperation and climate-resilient infrastructure are essential for adaptation</a:t>
            </a:r>
          </a:p>
          <a:p>
            <a:pPr>
              <a:spcBef>
                <a:spcPts val="800"/>
              </a:spcBef>
            </a:pPr>
            <a:r>
              <a:rPr sz="1800">
                <a:solidFill>
                  <a:srgbClr val="CBD5E1"/>
                </a:solidFill>
              </a:rPr>
              <a:t>  •  Individual and collective actions can make a difference in reducing greenhouse gas emissions</a:t>
            </a:r>
          </a:p>
          <a:p>
            <a:pPr>
              <a:spcBef>
                <a:spcPts val="800"/>
              </a:spcBef>
            </a:pPr>
            <a:r>
              <a:rPr sz="1800">
                <a:solidFill>
                  <a:srgbClr val="CBD5E1"/>
                </a:solidFill>
              </a:rPr>
              <a:t>  •  A sustained and coordinated effort is needed to address the causes and consequences of climate change</a:t>
            </a:r>
          </a:p>
        </p:txBody>
      </p:sp>
      <p:sp>
        <p:nvSpPr>
          <p:cNvPr id="6" name="TextBox 5"/>
          <p:cNvSpPr txBox="1"/>
          <p:nvPr/>
        </p:nvSpPr>
        <p:spPr>
          <a:xfrm>
            <a:off x="10789920" y="6492240"/>
            <a:ext cx="1097280" cy="274320"/>
          </a:xfrm>
          <a:prstGeom prst="rect">
            <a:avLst/>
          </a:prstGeom>
          <a:noFill/>
        </p:spPr>
        <p:txBody>
          <a:bodyPr wrap="square">
            <a:spAutoFit/>
          </a:bodyPr>
          <a:lstStyle/>
          <a:p>
            <a:pPr algn="r"/>
            <a:r>
              <a:rPr sz="900" b="0">
                <a:solidFill>
                  <a:srgbClr val="94A3B8"/>
                </a:solidFill>
              </a:rPr>
              <a:t>8 / 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