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011680"/>
            <a:ext cx="10360152" cy="1645920"/>
          </a:xfrm>
          <a:prstGeom prst="rect">
            <a:avLst/>
          </a:prstGeom>
          <a:noFill/>
        </p:spPr>
        <p:txBody>
          <a:bodyPr wrap="square">
            <a:spAutoFit/>
          </a:bodyPr>
          <a:lstStyle/>
          <a:p>
            <a:pPr algn="ctr"/>
            <a:r>
              <a:rPr sz="4400" b="1">
                <a:solidFill>
                  <a:srgbClr val="FFFFFF"/>
                </a:solidFill>
              </a:rPr>
              <a:t>Climate Change: The Global Challenge</a:t>
            </a:r>
          </a:p>
        </p:txBody>
      </p:sp>
      <p:sp>
        <p:nvSpPr>
          <p:cNvPr id="4" name="TextBox 3"/>
          <p:cNvSpPr txBox="1"/>
          <p:nvPr/>
        </p:nvSpPr>
        <p:spPr>
          <a:xfrm>
            <a:off x="1371600" y="3840480"/>
            <a:ext cx="9445752" cy="731520"/>
          </a:xfrm>
          <a:prstGeom prst="rect">
            <a:avLst/>
          </a:prstGeom>
          <a:noFill/>
        </p:spPr>
        <p:txBody>
          <a:bodyPr wrap="square">
            <a:spAutoFit/>
          </a:bodyPr>
          <a:lstStyle/>
          <a:p>
            <a:pPr algn="ctr"/>
            <a:r>
              <a:rPr sz="2000" b="0">
                <a:solidFill>
                  <a:srgbClr val="94A3B8"/>
                </a:solidFill>
              </a:rPr>
              <a:t>Understanding the Causes, Consequences, and Solutions</a:t>
            </a:r>
          </a:p>
        </p:txBody>
      </p:sp>
      <p:sp>
        <p:nvSpPr>
          <p:cNvPr id="5" name="TextBox 4"/>
          <p:cNvSpPr txBox="1"/>
          <p:nvPr/>
        </p:nvSpPr>
        <p:spPr>
          <a:xfrm>
            <a:off x="457200" y="6217920"/>
            <a:ext cx="11274552" cy="365760"/>
          </a:xfrm>
          <a:prstGeom prst="rect">
            <a:avLst/>
          </a:prstGeom>
          <a:noFill/>
        </p:spPr>
        <p:txBody>
          <a:bodyPr wrap="square">
            <a:spAutoFit/>
          </a:bodyPr>
          <a:lstStyle/>
          <a:p>
            <a:pPr algn="ctr"/>
            <a:r>
              <a:rPr sz="1000" b="0">
                <a:solidFill>
                  <a:srgbClr val="94A3B8"/>
                </a:solidFill>
              </a:rPr>
              <a:t>CLIMATE CHANGE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1 /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Rising Global Temperatures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The average global temperature has risen by 1.1 degrees Celsius since the late 19th century, primarily due to the increasing levels of greenhouse gases in the Earth's atmosphere, such as carbon dioxide and methane, which are released through human activities like burning fossil fuels, deforestation, and agriculture.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2 / 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Consequences of Climate Change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More frequent and severe heatwaves, droughts, and storms</a:t>
            </a:r>
          </a:p>
          <a:p>
            <a:pPr>
              <a:spcBef>
                <a:spcPts val="800"/>
              </a:spcBef>
            </a:pPr>
            <a:r>
              <a:rPr sz="1800">
                <a:solidFill>
                  <a:srgbClr val="CBD5E1"/>
                </a:solidFill>
              </a:rPr>
              <a:t>  •  Rising sea levels, leading to coastal erosion and flooding</a:t>
            </a:r>
          </a:p>
          <a:p>
            <a:pPr>
              <a:spcBef>
                <a:spcPts val="800"/>
              </a:spcBef>
            </a:pPr>
            <a:r>
              <a:rPr sz="1800">
                <a:solidFill>
                  <a:srgbClr val="CBD5E1"/>
                </a:solidFill>
              </a:rPr>
              <a:t>  •  Loss of biodiversity, with many species facing extinction</a:t>
            </a:r>
          </a:p>
          <a:p>
            <a:pPr>
              <a:spcBef>
                <a:spcPts val="800"/>
              </a:spcBef>
            </a:pPr>
            <a:r>
              <a:rPr sz="1800">
                <a:solidFill>
                  <a:srgbClr val="CBD5E1"/>
                </a:solidFill>
              </a:rPr>
              <a:t>  •  Negative impacts on human health, including increased mortality and disease</a:t>
            </a:r>
          </a:p>
          <a:p>
            <a:pPr>
              <a:spcBef>
                <a:spcPts val="800"/>
              </a:spcBef>
            </a:pPr>
            <a:r>
              <a:rPr sz="1800">
                <a:solidFill>
                  <a:srgbClr val="CBD5E1"/>
                </a:solidFill>
              </a:rPr>
              <a:t>  •  Disruption to food systems, leading to food insecurity and economic losses</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3 / 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Greenhouse Gas Emissions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The main sources of greenhouse gas emissions are carbon dioxide (65%), methane (20%), nitrous oxide (5%), and fluorinated gases (5%), with the largest emitters being China (23%), the United States (19%), the European Union (12%), and India (6%), highlighting the need for a global response to reduce emissions and transition to renewable energy sources.</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4 / 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Climate Change Mitigation Strategies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Transitioning to renewable energy sources, such as solar and wind power</a:t>
            </a:r>
          </a:p>
          <a:p>
            <a:pPr>
              <a:spcBef>
                <a:spcPts val="800"/>
              </a:spcBef>
            </a:pPr>
            <a:r>
              <a:rPr sz="1800">
                <a:solidFill>
                  <a:srgbClr val="CBD5E1"/>
                </a:solidFill>
              </a:rPr>
              <a:t>  •  Increasing energy efficiency in buildings, transportation, and industry</a:t>
            </a:r>
          </a:p>
          <a:p>
            <a:pPr>
              <a:spcBef>
                <a:spcPts val="800"/>
              </a:spcBef>
            </a:pPr>
            <a:r>
              <a:rPr sz="1800">
                <a:solidFill>
                  <a:srgbClr val="CBD5E1"/>
                </a:solidFill>
              </a:rPr>
              <a:t>  •  Electrifying transportation and promoting sustainable land use</a:t>
            </a:r>
          </a:p>
          <a:p>
            <a:pPr>
              <a:spcBef>
                <a:spcPts val="800"/>
              </a:spcBef>
            </a:pPr>
            <a:r>
              <a:rPr sz="1800">
                <a:solidFill>
                  <a:srgbClr val="CBD5E1"/>
                </a:solidFill>
              </a:rPr>
              <a:t>  •  Carbon capture and storage technologies</a:t>
            </a:r>
          </a:p>
          <a:p>
            <a:pPr>
              <a:spcBef>
                <a:spcPts val="800"/>
              </a:spcBef>
            </a:pPr>
            <a:r>
              <a:rPr sz="1800">
                <a:solidFill>
                  <a:srgbClr val="CBD5E1"/>
                </a:solidFill>
              </a:rPr>
              <a:t>  •  Sustainable agriculture practices, like agroforestry and permaculture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5 / 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Climate Change Adaptation and Resilience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lgn="l"/>
            <a:r>
              <a:rPr sz="1800" b="0">
                <a:solidFill>
                  <a:srgbClr val="CBD5E1"/>
                </a:solidFill>
              </a:rPr>
              <a:t>Climate change adaptation involves taking proactive steps to reduce the vulnerability of communities, ecosystems, and economies to the impacts of climate change, such as investing in climate-resilient infrastructure, developing early warning systems for extreme weather events, and promoting climate-informed decision-making, to minimize the risks and maximize the opportunities associated with a changing climate.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6 / 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International Cooperation and Climate Governance</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The Paris Agreement, aiming to limit global warming to well below 2 degrees Celsius</a:t>
            </a:r>
          </a:p>
          <a:p>
            <a:pPr>
              <a:spcBef>
                <a:spcPts val="800"/>
              </a:spcBef>
            </a:pPr>
            <a:r>
              <a:rPr sz="1800">
                <a:solidFill>
                  <a:srgbClr val="CBD5E1"/>
                </a:solidFill>
              </a:rPr>
              <a:t>  •  The United Nations Framework Convention on Climate Change (UNFCCC), providing a framework for international cooperation</a:t>
            </a:r>
          </a:p>
          <a:p>
            <a:pPr>
              <a:spcBef>
                <a:spcPts val="800"/>
              </a:spcBef>
            </a:pPr>
            <a:r>
              <a:rPr sz="1800">
                <a:solidFill>
                  <a:srgbClr val="CBD5E1"/>
                </a:solidFill>
              </a:rPr>
              <a:t>  •  The Green Climate Fund, supporting climate change mitigation and adaptation projects in developing countries</a:t>
            </a:r>
          </a:p>
          <a:p>
            <a:pPr>
              <a:spcBef>
                <a:spcPts val="800"/>
              </a:spcBef>
            </a:pPr>
            <a:r>
              <a:rPr sz="1800">
                <a:solidFill>
                  <a:srgbClr val="CBD5E1"/>
                </a:solidFill>
              </a:rPr>
              <a:t>  •  Climate change negotiations and agreements, such as the European Union's climate law</a:t>
            </a:r>
          </a:p>
          <a:p>
            <a:pPr>
              <a:spcBef>
                <a:spcPts val="800"/>
              </a:spcBef>
            </a:pPr>
            <a:r>
              <a:rPr sz="1800">
                <a:solidFill>
                  <a:srgbClr val="CBD5E1"/>
                </a:solidFill>
              </a:rPr>
              <a:t>  •  Global climate governance, including the role of non-state actors and civil society</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7 / 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73152"/>
            <a:ext cx="12188952"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10515600" cy="822960"/>
          </a:xfrm>
          <a:prstGeom prst="rect">
            <a:avLst/>
          </a:prstGeom>
          <a:noFill/>
        </p:spPr>
        <p:txBody>
          <a:bodyPr wrap="square">
            <a:spAutoFit/>
          </a:bodyPr>
          <a:lstStyle/>
          <a:p>
            <a:pPr algn="l"/>
            <a:r>
              <a:rPr sz="2800" b="1">
                <a:solidFill>
                  <a:srgbClr val="FFFFFF"/>
                </a:solidFill>
              </a:rPr>
              <a:t>Key Takeaways</a:t>
            </a:r>
          </a:p>
        </p:txBody>
      </p:sp>
      <p:sp>
        <p:nvSpPr>
          <p:cNvPr id="4" name="Rectangle 3"/>
          <p:cNvSpPr/>
          <p:nvPr/>
        </p:nvSpPr>
        <p:spPr>
          <a:xfrm>
            <a:off x="548640" y="1234440"/>
            <a:ext cx="27432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463040"/>
            <a:ext cx="10515600" cy="4754880"/>
          </a:xfrm>
          <a:prstGeom prst="rect">
            <a:avLst/>
          </a:prstGeom>
          <a:noFill/>
        </p:spPr>
        <p:txBody>
          <a:bodyPr wrap="square">
            <a:spAutoFit/>
          </a:bodyPr>
          <a:lstStyle/>
          <a:p>
            <a:pPr>
              <a:spcBef>
                <a:spcPts val="800"/>
              </a:spcBef>
            </a:pPr>
            <a:r>
              <a:rPr sz="1800">
                <a:solidFill>
                  <a:srgbClr val="CBD5E1"/>
                </a:solidFill>
              </a:rPr>
              <a:t>  •  Climate change is a pressing global challenge, requiring immediate attention and action</a:t>
            </a:r>
          </a:p>
          <a:p>
            <a:pPr>
              <a:spcBef>
                <a:spcPts val="800"/>
              </a:spcBef>
            </a:pPr>
            <a:r>
              <a:rPr sz="1800">
                <a:solidFill>
                  <a:srgbClr val="CBD5E1"/>
                </a:solidFill>
              </a:rPr>
              <a:t>  •  Reducing greenhouse gas emissions and transitioning to renewable energy sources are critical for mitigating climate change</a:t>
            </a:r>
          </a:p>
          <a:p>
            <a:pPr>
              <a:spcBef>
                <a:spcPts val="800"/>
              </a:spcBef>
            </a:pPr>
            <a:r>
              <a:rPr sz="1800">
                <a:solidFill>
                  <a:srgbClr val="CBD5E1"/>
                </a:solidFill>
              </a:rPr>
              <a:t>  •  Climate change adaptation and resilience are essential for minimizing the impacts of climate change</a:t>
            </a:r>
          </a:p>
          <a:p>
            <a:pPr>
              <a:spcBef>
                <a:spcPts val="800"/>
              </a:spcBef>
            </a:pPr>
            <a:r>
              <a:rPr sz="1800">
                <a:solidFill>
                  <a:srgbClr val="CBD5E1"/>
                </a:solidFill>
              </a:rPr>
              <a:t>  •  International cooperation and climate governance are vital for addressing the global nature of the challenge</a:t>
            </a:r>
          </a:p>
          <a:p>
            <a:pPr>
              <a:spcBef>
                <a:spcPts val="800"/>
              </a:spcBef>
            </a:pPr>
            <a:r>
              <a:rPr sz="1800">
                <a:solidFill>
                  <a:srgbClr val="CBD5E1"/>
                </a:solidFill>
              </a:rPr>
              <a:t>  •  Individual and collective action can make a significant difference in reducing the risks and consequences of climate change</a:t>
            </a:r>
          </a:p>
        </p:txBody>
      </p:sp>
      <p:sp>
        <p:nvSpPr>
          <p:cNvPr id="6" name="TextBox 5"/>
          <p:cNvSpPr txBox="1"/>
          <p:nvPr/>
        </p:nvSpPr>
        <p:spPr>
          <a:xfrm>
            <a:off x="10789920" y="6492240"/>
            <a:ext cx="1097280" cy="274320"/>
          </a:xfrm>
          <a:prstGeom prst="rect">
            <a:avLst/>
          </a:prstGeom>
          <a:noFill/>
        </p:spPr>
        <p:txBody>
          <a:bodyPr wrap="square">
            <a:spAutoFit/>
          </a:bodyPr>
          <a:lstStyle/>
          <a:p>
            <a:pPr algn="r"/>
            <a:r>
              <a:rPr sz="900" b="0">
                <a:solidFill>
                  <a:srgbClr val="94A3B8"/>
                </a:solidFill>
              </a:rPr>
              <a:t>8 / 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